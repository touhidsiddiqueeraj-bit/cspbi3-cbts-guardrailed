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punchline in plain words: two numbers, not one. 24.9 is the best our simulation could build inside fixed rules; 20.8 is the number for real-world dirt. Ask the room which one they would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puzzle simply: the computer beats the lab, but only because the computer is allowed to assume a perfect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Provenance in one sentence: nothing in our files is invented; everything traces to a printed table, and our additions are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two layers meet, electrons get trapped and lost — that is what an interface block models. Deleting this row is how inflated numbers are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choice closes one cheating route: self-consistent gaps, scripted resistance, visible optics.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publish our mistakes as findings. Both traps gave plausible-looking efficiencies, which is what makes them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Layers of searching: broad grid, then the energy lineup surprise, then a search that could not reach the winner because its box excluded it — stated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climbs slowly because fabrication gets better. Orange jumps because assumptions get looser. Our two ringed points sit on opposite sides of the certified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curve, then the small print. Best the box allows is exactly why it cannot headline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surprise of the campaign: moving layer energy levels changes how hard trapped charges must work to escape, and efficiency climbs even past textbook rules. The winning values are aggressive — stated,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points across four decades of dirt. Placing others here would be an accusation dressed as analysis, so we refuse.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Computed from our absorption, not a textbook. The old rulebook ceiling sat above the physical limit, so we retired it and said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for an experimentalist. The best thickness moves with dirt level — invisible to one-variable-at-a-time testing. With realistic resistance: 20.42.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ultra-clean cells joints win by 2 points; in everyday cells bulk dirt wins and joints go flat. There is no single most-important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left to right with the room: voltage ordinary, current ordinary, squareness of the curve is where simulation exceeds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alone cannot be compared across studies; we proved the equivalence digit-for-digit. The floor's cleanliness is admitted,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Plausible-looking efficiencies from pure input errors — that is what makes them dangerous. One-line rule to defeat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disclosure items, each a place where silence moves the headline by points. Propose it as a reviewer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paper that prices others' assumptions prices its own. Questions belong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to leave the room with. Then the live demo: open the champion file in SCAPS and read the number off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SOLAR CELLS · COMPUTER MODELS · GROUP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Guardrails for the record race: what a CsPbI3 cell can honestly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Georgia"/>
              </a:defRPr>
            </a:pPr>
            <a:r>
              <a:t>Hussain Touhid Siddiquee &amp; Md. Abdul Malek Fahim · Dept. of EEE, Leading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latin typeface="Georgia"/>
              </a:defRPr>
            </a:pPr>
            <a:r>
              <a:t>We checked how much of a record solar-cell number is real, and how much comes from optimistic settings.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>
                <a:solidFill>
                  <a:srgbClr val="B3541E"/>
                </a:solidFill>
                <a:latin typeface="Georgia"/>
              </a:defRPr>
            </a:pPr>
            <a:r>
              <a:t>24.9% best case  →  20.8% honest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Computer models now beat the best real solar cells — on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The best certified cesium-lead-iodide cell turns 22.02 percent of sunlight into electricity.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Computer simulations of similar cells claim over 24 percent.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The gap is not fraud. It is hidden assumptions: missing dirt, perfect contacts, ideal materials.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WHERE OUR SETTINGS COME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Every setting we used comes from a published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3 / 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69848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182880">
                <a:tc>
                  <a:txBody>
                    <a:bodyPr/>
                    <a:lstStyle/>
                    <a:p>
                      <a:pPr>
                        <a:defRPr sz="20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Cell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Voltage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Fill factor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Hossain 2022, printed (17.90%)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0.997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21.07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85.2%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Our rebuild (18.99%)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1.122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19.68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86.0%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In 2022, the Hossain team tested 96 layer combinations and picked the winning stack.</a:t>
            </a:r>
          </a:p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In 2023 they tuned it fully and printed every setting, so anyone can rebuild it.</a:t>
            </a:r>
          </a:p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We rebuilt their cell in software and landed nearby — then added the dirt layers they left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THE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The cell has five layers, and we model the dirt between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4 / 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69848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8377"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Thickness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Setting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Transparent front contact (ITO)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energy level 4.0 eV</a:t>
                      </a:r>
                    </a:p>
                  </a:txBody>
                  <a:tcPr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Electron-carrying layer (titanium dioxide)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30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doping 9e17, energy 3.7 eV at best</a:t>
                      </a:r>
                    </a:p>
                  </a:txBody>
                  <a:tcPr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Light absorber (cesium lead iodide)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2.2 µm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doping 3e16, defects 1e12, gap 1.65 eV</a:t>
                      </a:r>
                    </a:p>
                  </a:txBody>
                  <a:tcPr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Hole-carrying layer (CBTS)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100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doping 1e18, energy 3.9 eV at best</a:t>
                      </a:r>
                    </a:p>
                  </a:txBody>
                  <a:tcPr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Nickel back 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energy level 5.5 eV</a:t>
                      </a:r>
                    </a:p>
                  </a:txBody>
                  <a:tcPr/>
                </a:tc>
              </a:tr>
              <a:tr h="78378"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Dirt traps at both joints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Georgia"/>
                        </a:defRPr>
                      </a:pPr>
                      <a:r>
                        <a:t>a fixed, stated amount at each boundary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Georgia"/>
              </a:defRPr>
            </a:pPr>
            <a:r>
              <a:t>Names in brackets are the materials: ITO = transparent conductor, CBTS = copper barium tin sulfide. nm = billionth of a meter, µm = thousandth of a millimeter, eV = energy unit. Doping and defect numbers are atoms per cubic centimeter, written as powers of ten (9e17 means 9 followed by 17 zeros).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METHOD · THE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We set up the simulator so it cannot flatter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We simulate standard sunlight at room temperature.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When we change the light-absorbing gap, the absorption edge moves with it, as in real physics.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Electrical resistance is simulated inside the software, never subtracted by hand afterwards.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Anything that absorbs light in the contact layers is left out in the open, not hidden.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METHOD · CAREFUL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Tiny input mistakes can invent fake record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The files store metric units but the command line expects practical units. Mixing them overdoses the cell a million-fold and invents ghost cells near 27 percent.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One command for trap sizes silently switches the traps off instead of resizing them.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We rerun key cells at finer resolution. Differences below 0.017 points do not 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METHOD · THE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We ran hundreds of simulations and saved every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7 / 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69848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109728">
                <a:tc>
                  <a:txBody>
                    <a:bodyPr/>
                    <a:lstStyle/>
                    <a:p>
                      <a:pPr>
                        <a:defRPr sz="20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Runs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What it found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Broad grid + refinement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96 + 36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23.50% best with standard settings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Energy-lineup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24.95% at the best lineup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Automatic search (limited box)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nothing fair beats the grid best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Sensitivity + checks + 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56 +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what matters flips with dirt level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THE RECORD 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Real cells improve slowly, simulations jump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8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10332720" cy="3108960"/>
          </a:xfrm>
          <a:prstGeom prst="rect">
            <a:avLst/>
          </a:prstGeom>
          <a:noFill/>
          <a:ln w="38100">
            <a:solidFill>
              <a:srgbClr val="1C1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06347" y="4562856"/>
            <a:ext cx="256032" cy="256032"/>
          </a:xfrm>
          <a:prstGeom prst="ellipse">
            <a:avLst/>
          </a:prstGeom>
          <a:solidFill>
            <a:srgbClr val="2E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Verdana"/>
              </a:defRPr>
            </a:pPr>
            <a: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472891" y="3183254"/>
            <a:ext cx="256032" cy="256032"/>
          </a:xfrm>
          <a:prstGeom prst="ellipse">
            <a:avLst/>
          </a:prstGeom>
          <a:solidFill>
            <a:srgbClr val="2E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Verdana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4506163" y="2957855"/>
            <a:ext cx="256032" cy="256032"/>
          </a:xfrm>
          <a:prstGeom prst="ellipse">
            <a:avLst/>
          </a:prstGeom>
          <a:solidFill>
            <a:srgbClr val="2E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Verdana"/>
              </a:defRPr>
            </a:pPr>
            <a: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7605979" y="2497340"/>
            <a:ext cx="256032" cy="256032"/>
          </a:xfrm>
          <a:prstGeom prst="ellipse">
            <a:avLst/>
          </a:prstGeom>
          <a:solidFill>
            <a:srgbClr val="2E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Verdana"/>
              </a:defRPr>
            </a:pPr>
            <a: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9259214" y="2382697"/>
            <a:ext cx="256032" cy="256032"/>
          </a:xfrm>
          <a:prstGeom prst="ellipse">
            <a:avLst/>
          </a:prstGeom>
          <a:solidFill>
            <a:srgbClr val="2E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Verdana"/>
              </a:defRPr>
            </a:pPr>
            <a:r>
              <a:t>5</a:t>
            </a:r>
          </a:p>
        </p:txBody>
      </p:sp>
      <p:sp>
        <p:nvSpPr>
          <p:cNvPr id="11" name="Oval 10"/>
          <p:cNvSpPr/>
          <p:nvPr/>
        </p:nvSpPr>
        <p:spPr>
          <a:xfrm>
            <a:off x="5332780" y="2172842"/>
            <a:ext cx="256032" cy="256032"/>
          </a:xfrm>
          <a:prstGeom prst="ellipse">
            <a:avLst/>
          </a:prstGeom>
          <a:solidFill>
            <a:srgbClr val="B35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Verdana"/>
              </a:defRPr>
            </a:pPr>
            <a:r>
              <a:t>6</a:t>
            </a:r>
          </a:p>
        </p:txBody>
      </p:sp>
      <p:sp>
        <p:nvSpPr>
          <p:cNvPr id="12" name="Oval 11"/>
          <p:cNvSpPr/>
          <p:nvPr/>
        </p:nvSpPr>
        <p:spPr>
          <a:xfrm>
            <a:off x="6779361" y="1964931"/>
            <a:ext cx="256032" cy="256032"/>
          </a:xfrm>
          <a:prstGeom prst="ellipse">
            <a:avLst/>
          </a:prstGeom>
          <a:solidFill>
            <a:srgbClr val="B35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Verdana"/>
              </a:defRPr>
            </a:pPr>
            <a:r>
              <a:t>7</a:t>
            </a:r>
          </a:p>
        </p:txBody>
      </p:sp>
      <p:sp>
        <p:nvSpPr>
          <p:cNvPr id="13" name="Oval 12"/>
          <p:cNvSpPr/>
          <p:nvPr/>
        </p:nvSpPr>
        <p:spPr>
          <a:xfrm>
            <a:off x="7295997" y="1951329"/>
            <a:ext cx="256032" cy="256032"/>
          </a:xfrm>
          <a:prstGeom prst="ellipse">
            <a:avLst/>
          </a:prstGeom>
          <a:solidFill>
            <a:srgbClr val="B35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Verdana"/>
              </a:defRPr>
            </a:pPr>
            <a:r>
              <a:t>8</a:t>
            </a:r>
          </a:p>
        </p:txBody>
      </p:sp>
      <p:sp>
        <p:nvSpPr>
          <p:cNvPr id="14" name="Oval 13"/>
          <p:cNvSpPr/>
          <p:nvPr/>
        </p:nvSpPr>
        <p:spPr>
          <a:xfrm>
            <a:off x="9879177" y="1813369"/>
            <a:ext cx="256032" cy="256032"/>
          </a:xfrm>
          <a:prstGeom prst="ellipse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Verdana"/>
              </a:defRPr>
            </a:pPr>
            <a:r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10021824" y="2615869"/>
            <a:ext cx="384048" cy="256032"/>
          </a:xfrm>
          <a:prstGeom prst="ellipse">
            <a:avLst/>
          </a:prstGeom>
          <a:solidFill>
            <a:srgbClr val="2E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  <a:latin typeface="Verdana"/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293108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latin typeface="Verdana"/>
              </a:defRPr>
            </a:pPr>
            <a:r>
              <a:t>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3515868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latin typeface="Verdana"/>
              </a:defRPr>
            </a:pPr>
            <a:r>
              <a:t>16%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738627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latin typeface="Verdana"/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1961387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latin typeface="Verdana"/>
              </a:defRPr>
            </a:pPr>
            <a:r>
              <a:t>24%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64608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latin typeface="Verdana"/>
              </a:defRPr>
            </a:pPr>
            <a:r>
              <a:t>2016  →  2026 · dot number color = track (green measured, orange simulated, dark this work)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6E5E"/>
                </a:solidFill>
                <a:latin typeface="Verdana"/>
              </a:rPr>
              <a:t>1. </a:t>
            </a:r>
            <a:r>
              <a:rPr sz="1400">
                <a:latin typeface="Verdana"/>
              </a:rPr>
              <a:t>10.8% QD 2016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6E5E"/>
                </a:solidFill>
                <a:latin typeface="Verdana"/>
              </a:rPr>
              <a:t>2. </a:t>
            </a:r>
            <a:r>
              <a:rPr sz="1400">
                <a:latin typeface="Verdana"/>
              </a:rPr>
              <a:t>17.9% Hossain 22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6E5E"/>
                </a:solidFill>
                <a:latin typeface="Verdana"/>
              </a:rPr>
              <a:t>3. </a:t>
            </a:r>
            <a:r>
              <a:rPr sz="1400">
                <a:latin typeface="Verdana"/>
              </a:rPr>
              <a:t>19.06% Hossain 23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6E5E"/>
                </a:solidFill>
                <a:latin typeface="Verdana"/>
              </a:rPr>
              <a:t>4. </a:t>
            </a:r>
            <a:r>
              <a:rPr sz="1400">
                <a:latin typeface="Verdana"/>
              </a:rPr>
              <a:t>21.43% inverted cert.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6E5E"/>
                </a:solidFill>
                <a:latin typeface="Verdana"/>
              </a:rPr>
              <a:t>5. </a:t>
            </a:r>
            <a:r>
              <a:rPr sz="1400">
                <a:latin typeface="Verdana"/>
              </a:rPr>
              <a:t>22.02% cert.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138928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B3541E"/>
                </a:solidFill>
                <a:latin typeface="Verdana"/>
              </a:rPr>
              <a:t>6. </a:t>
            </a:r>
            <a:r>
              <a:rPr sz="1400">
                <a:latin typeface="Verdana"/>
              </a:rPr>
              <a:t>23.1% ZnO/Spiro sim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541E"/>
                </a:solidFill>
                <a:latin typeface="Verdana"/>
              </a:rPr>
              <a:t>7. </a:t>
            </a:r>
            <a:r>
              <a:rPr sz="1400">
                <a:latin typeface="Verdana"/>
              </a:rPr>
              <a:t>24.17% Nazli sim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541E"/>
                </a:solidFill>
                <a:latin typeface="Verdana"/>
              </a:rPr>
              <a:t>8. </a:t>
            </a:r>
            <a:r>
              <a:rPr sz="1400">
                <a:latin typeface="Verdana"/>
              </a:rPr>
              <a:t>24.24% Oyedele sim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C1A16"/>
                </a:solidFill>
                <a:latin typeface="Verdana"/>
              </a:rPr>
              <a:t>9. </a:t>
            </a:r>
            <a:r>
              <a:rPr sz="1400">
                <a:latin typeface="Verdana"/>
              </a:rPr>
              <a:t>24.95% bound (us)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6E5E"/>
                </a:solidFill>
                <a:latin typeface="Verdana"/>
              </a:rPr>
              <a:t>10. </a:t>
            </a:r>
            <a:r>
              <a:rPr sz="1400">
                <a:latin typeface="Verdana"/>
              </a:rPr>
              <a:t>20.82% defensible (us)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RESULT · THE UPPER 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Our best fair cell reaches 24.95 percent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9 / 20</a:t>
            </a:r>
          </a:p>
        </p:txBody>
      </p:sp>
      <p:pic>
        <p:nvPicPr>
          <p:cNvPr id="5" name="Picture 4" descr="fig_JVb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6583680" cy="40925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37744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It produces 1.321 volts at 21.20 milliamps per square centimeter.</a:t>
            </a:r>
          </a:p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Thick absorber, cleanest allowed dirt, lowest gap, tuned energy lineup.</a:t>
            </a:r>
          </a:p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Every setting sits at the extreme edge — a ceiling, not a promise.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RESULT · WHY THE LINEUP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Tiny energy shifts decide the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10 / 20</a:t>
            </a:r>
          </a:p>
        </p:txBody>
      </p:sp>
      <p:pic>
        <p:nvPicPr>
          <p:cNvPr id="5" name="Picture 4" descr="affin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5486400" cy="3962400"/>
          </a:xfrm>
          <a:prstGeom prst="rect">
            <a:avLst/>
          </a:prstGeom>
        </p:spPr>
      </p:pic>
      <p:pic>
        <p:nvPicPr>
          <p:cNvPr id="6" name="Picture 5" descr="gap_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77440"/>
            <a:ext cx="4937760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RESULT · DIRTY JOINTS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Dirty joints cost four percentage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11 / 20</a:t>
            </a:r>
          </a:p>
        </p:txBody>
      </p:sp>
      <p:pic>
        <p:nvPicPr>
          <p:cNvPr id="5" name="Picture 4" descr="fig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6583680" cy="38116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37744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From almost-clean to very dirty joints, our own cell falls from 25.11 to 21.20 percent.</a:t>
            </a:r>
          </a:p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We do not place other teams' numbers on our curve: their cells differ and their tables are incomplete.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RESULT · THE SPEED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Physics sets a voltage ceiling, and our cell obeys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From our own light-absorption model, no cell of this gap can exceed 1.371 volts.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Our champion stops at 1.321 volts. Cells with deleted joints crowd right up against the ceiling.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A band with no margin anywhere is not evidence of a working cell.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RESULT · THE HONEST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A realistically dirty cell gives 20.82 percent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13 / 20</a:t>
            </a:r>
          </a:p>
        </p:txBody>
      </p:sp>
      <p:pic>
        <p:nvPicPr>
          <p:cNvPr id="5" name="Picture 4" descr="rs_d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5120640" cy="3328416"/>
          </a:xfrm>
          <a:prstGeom prst="rect">
            <a:avLst/>
          </a:prstGeom>
        </p:spPr>
      </p:pic>
      <p:pic>
        <p:nvPicPr>
          <p:cNvPr id="6" name="Picture 5" descr="thickness_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77440"/>
            <a:ext cx="5120640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RESULT · WHAT MATTERS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It depends on how dirty the cell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14 / 20</a:t>
            </a:r>
          </a:p>
        </p:txBody>
      </p:sp>
      <p:pic>
        <p:nvPicPr>
          <p:cNvPr id="5" name="Picture 4" descr="fig_mor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5486400" cy="2743200"/>
          </a:xfrm>
          <a:prstGeom prst="rect">
            <a:avLst/>
          </a:prstGeom>
        </p:spPr>
      </p:pic>
      <p:pic>
        <p:nvPicPr>
          <p:cNvPr id="6" name="Picture 5" descr="optimi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77440"/>
            <a:ext cx="4937760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RESULT · AGAINST THE REAL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Our extra points come from fill factor, not voltage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15 / 20</a:t>
            </a:r>
          </a:p>
        </p:txBody>
      </p:sp>
      <p:pic>
        <p:nvPicPr>
          <p:cNvPr id="5" name="Picture 4" descr="loss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6583680" cy="3803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37744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Our voltage is ordinary — real records already reach 1.27 to 1.29 volts.</a:t>
            </a:r>
          </a:p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The six-point fill-factor gap has three possible causes, and we do not pretend to know which dominates.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METHOD · FAIR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Compare lifetimes, not just dirt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16 / 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69848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137160">
                <a:tc>
                  <a:txBody>
                    <a:bodyPr/>
                    <a:lstStyle/>
                    <a:p>
                      <a:pPr>
                        <a:defRPr sz="20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Dirt level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latin typeface="Georgia"/>
                        </a:defRPr>
                      </a:pPr>
                      <a:r>
                        <a:rPr>
                          <a:solidFill>
                            <a:srgbClr val="FAF7F1"/>
                          </a:solidFill>
                        </a:rPr>
                        <a:t>Lifetime / surface speed</a:t>
                      </a:r>
                    </a:p>
                  </a:txBody>
                  <a:tcPr>
                    <a:solidFill>
                      <a:srgbClr val="1C1A16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Cleanest allowed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charges live 100 microseconds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Everyday dirt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charges live 0.1 microseconds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Joint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Georgia"/>
                        </a:defRPr>
                      </a:pPr>
                      <a:r>
                        <a:t>surface speed 100 cm/s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37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Dirt count times trap size is what physics actually sees.</a:t>
            </a:r>
          </a:p>
          <a:p>
            <a:pPr>
              <a:spcAft>
                <a:spcPts val="1400"/>
              </a:spcAft>
              <a:defRPr sz="2000">
                <a:latin typeface="Georgia"/>
              </a:defRPr>
            </a:pPr>
            <a:r>
              <a:t>▪  Lifetimes and surface speeds let studies compare fairly — and our 100-microsecond floor is far cleaner than the best real films.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HONESTY · SOFTWARE TRAPS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Two software traps that invent fake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Mixing metric and practical units overdoses the cell a million-fold and invents ghost cells near 27 percent.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One trap-size command silently switches the traps off instead of resizing them.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Rule: build structure in files, and always read every scripted value back before believing a run.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CONTRIBUTION · A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A checklist so future studies can be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State joint dirt plus trap size — or the lifetime and surface speed.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State which unit system every number uses, and the resistance basis.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State both contact energy levels, and which affinities were surveyed versus adopted.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State the radiative ceiling used, and archive every input file.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What this work cannot tell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19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No search method proves our best cell is the global best — it is the best we evaluated.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We model steady electricity only: no aging, no moisture damage, no crystal decay.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We never fitted the model to a real measured cell, so the comparison table compares rather than calibrates.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F6A5E"/>
                </a:solidFill>
                <a:latin typeface="Verdana"/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1C1A16"/>
                </a:solidFill>
                <a:latin typeface="Georgia"/>
              </a:defRPr>
            </a:pPr>
            <a:r>
              <a:t>Claim 20.8. Cite 24.9 as a limit.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6A5E"/>
                </a:solidFill>
                <a:latin typeface="Verdana"/>
              </a:defRPr>
            </a:pPr>
            <a:r>
              <a:t>Guardrails for the Record Race    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Every number archived, every assumption priced, every receipt regenerable from scripts.</a:t>
            </a:r>
          </a:p>
          <a:p>
            <a:pPr>
              <a:spcAft>
                <a:spcPts val="1400"/>
              </a:spcAft>
              <a:defRPr sz="2400">
                <a:latin typeface="Georgia"/>
              </a:defRPr>
            </a:pPr>
            <a:r>
              <a:t>▪  github.com/touhidsiddiqueeraj-bit/cspbi3-cbts-guardrailed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