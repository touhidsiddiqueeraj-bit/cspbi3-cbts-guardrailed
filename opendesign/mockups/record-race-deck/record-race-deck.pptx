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punchline: two numbers, not one. 24.9 is the best point inside stated guardrails; 20.8 is the number for an experimentalist. Ask the room which they would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inflation dynamic: 22.02 certified vs 24.17/24.24 simulated. The question is what each number assumes.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Provenance: every def number traces to a printed table. We add only interface blocks and the absorption model, both stated.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stack top to bottom. The last row is what matters: deleting it is how inflated numbers are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Absorption model keeps gap sweeps self-consistent; scripted parasitics block the analytic-derate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Ghost cells at 27% from a units slip; neutralised interfaces from a set-key slip. Set-then-get verification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Grid, then the joint-affinity surprise, then an optimiser whose box excluded χ 3.7 — a limitation, not a trophy.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climbs slowly — fabrication improving. Orange jumps — assumptions loosening. Our two points straddle the certified record; the gap between them is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JV, then the small print: every coordinate is an edge. Best the box allows — which is why it cannot headline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Joint map surprise: both optimum affinities outside surveyed values; efficiency rises through zero hole-side offset. Non-monotonic gap steps map the Ea landscape, not absorption.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points across four decades on our own cell. Placement of others' numbers would be accusation dressed as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Computed from our absorption, not a textbook number. The old Eg/q rule sat above the limit — retired, stated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 for an experimentalist. Thickness optimum moves with Nt — invisible to single-variable sweeps. Attainable gaps: 24.44/24.73/24.28%.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Paired test: +2.03 [0.70, 3.51], 6 of 8 trajectories. Routine-defect dose goes flat. Both halves are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points of FF excess with three named causes, none isolated. Read left to right with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N-sigma degeneracy proved digit-for-digit. The 100 µs floor is 1–2 orders beyond the best films — admitted, not hidden.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Mistakes published as findings. Both traps gave plausible efficiencies — that is what makes them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disclosure items, each a place where silence moves the headline by points. Propose it as a reviewer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paper that prices others' assumptions prices its own. Questions belong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 to leave the room with. Then the live demo: open the champion def in SCAPS and read 24.95% off the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CSPBI3 PEROVSKITES · SIMULATION AUDIT · GROUP SEMINAR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Guardrails for the record race: what a CsPbI3 cell can honestly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latin typeface="Georgia"/>
              </a:defRPr>
            </a:pPr>
            <a:r>
              <a:t>Hussain Touhid Siddiquee &amp; Md. Abdul Malek Fahim · Dept. of EEE, Leading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>
                <a:solidFill>
                  <a:srgbClr val="B3541E"/>
                </a:solidFill>
                <a:latin typeface="Georgia"/>
              </a:defRPr>
            </a:pPr>
            <a:r>
              <a:t>24.9% box best  →  20.8% defensible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Simulation records keep climbing past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Certified CsPbI3 record: 22.02% — simulation claims reach 24.2% and beyond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Highest numbers come with interfaces removed or unreachable defect densities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Raw inputs routinely withheld — nobody can re-run anyone else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WHERE THE NUMBERS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Our parameters come from the Hossain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3 /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106984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182880"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Device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Voc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Jsc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FF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Hossain 2022 printed (17.90%)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0.997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21.07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85.2%</a:t>
                      </a:r>
                    </a:p>
                  </a:txBody>
                  <a:tcPr/>
                </a:tc>
              </a:tr>
              <a:tr h="182880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Our baseline (18.99%)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1.122 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19.68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86.0%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75488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2022: 96 transport-layer combos screened, TiO2/CBTS wins</a:t>
            </a:r>
          </a:p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2023: full optimisation, complete table printed — we reproduce, then switch interfaces 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The stack, with interfaces switched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4 /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106984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78377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Thickness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Key setting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</a:tr>
              <a:tr h="78377"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ITO front 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4.0 eV work function</a:t>
                      </a:r>
                    </a:p>
                  </a:txBody>
                  <a:tcPr/>
                </a:tc>
              </a:tr>
              <a:tr h="78377"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TiO2 ETL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30 nm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ND 9e17, χ 3.7 eV at optimum</a:t>
                      </a:r>
                    </a:p>
                  </a:txBody>
                  <a:tcPr/>
                </a:tc>
              </a:tr>
              <a:tr h="78377"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CsPbI3 absorber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2.2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NA 3e16, Nt 1e12, Eg 1.65 eV</a:t>
                      </a:r>
                    </a:p>
                  </a:txBody>
                  <a:tcPr/>
                </a:tc>
              </a:tr>
              <a:tr h="78377"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CBTS HTL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100 nm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NA 1e18, χ 3.9 eV at optimum</a:t>
                      </a:r>
                    </a:p>
                  </a:txBody>
                  <a:tcPr/>
                </a:tc>
              </a:tr>
              <a:tr h="78377"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Ni back 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5.5 eV work function</a:t>
                      </a:r>
                    </a:p>
                  </a:txBody>
                  <a:tcPr/>
                </a:tc>
              </a:tr>
              <a:tr h="78378"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Interfaces, both sides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>
                          <a:latin typeface="Georgia"/>
                        </a:defRPr>
                      </a:pPr>
                      <a:r>
                        <a:t>N = 1e10 cm⁻² (S = 100 cm/s)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METHOD · SCAPS-1D V3.3.10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Configured for honest sweeps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AM1.5G, 100 mW/cm², 300 K · Eg-sqrt absorption, gap sweeps move the edge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SRH through stated bulk + interface defects · Krad = 0, Auger off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Flat 10% front reflection, opaque Ni back — conservative except the blue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Resistances scripted (set external.Rs/Rsh), never hand-derated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METHOD · SCRIPTING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Three conventions that keep the numbers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Units: def files store SI, script set expects practical units — SI inputs overdose 10⁶×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Cross-sections: the σ set-key restructures the block — definition files only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Uncertainty: 0.017-point IV-step; every difference read against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METHOD ·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One campaign, every run receipted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7 /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106984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109728"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Batch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Runs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</a:tr>
              <a:tr h="109728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Grid + refinement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96 + 36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23.50% surveyed best</a:t>
                      </a:r>
                    </a:p>
                  </a:txBody>
                  <a:tcPr/>
                </a:tc>
              </a:tr>
              <a:tr h="109728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Joint affinities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24.95% at (3.9, 3.7)</a:t>
                      </a:r>
                    </a:p>
                  </a:txBody>
                  <a:tcPr/>
                </a:tc>
              </a:tr>
              <a:tr h="109728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Optimiser (exploratory)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23.08% guardrailed — brackets nothing</a:t>
                      </a:r>
                    </a:p>
                  </a:txBody>
                  <a:tcPr/>
                </a:tc>
              </a:tr>
              <a:tr h="109728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Morris + audits + parasitics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56 +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regime flip, Rs/Rsh scripted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THE RECORD 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Two races on the same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8 / 20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10332720" cy="3108960"/>
          </a:xfrm>
          <a:prstGeom prst="rect">
            <a:avLst/>
          </a:prstGeom>
          <a:noFill/>
          <a:ln w="38100">
            <a:solidFill>
              <a:srgbClr val="1C1A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06347" y="4562856"/>
            <a:ext cx="256032" cy="256032"/>
          </a:xfrm>
          <a:prstGeom prst="ellipse">
            <a:avLst/>
          </a:prstGeom>
          <a:solidFill>
            <a:srgbClr val="2E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472891" y="3183254"/>
            <a:ext cx="256032" cy="256032"/>
          </a:xfrm>
          <a:prstGeom prst="ellipse">
            <a:avLst/>
          </a:prstGeom>
          <a:solidFill>
            <a:srgbClr val="2E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506163" y="2957855"/>
            <a:ext cx="256032" cy="256032"/>
          </a:xfrm>
          <a:prstGeom prst="ellipse">
            <a:avLst/>
          </a:prstGeom>
          <a:solidFill>
            <a:srgbClr val="2E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605979" y="2497340"/>
            <a:ext cx="256032" cy="256032"/>
          </a:xfrm>
          <a:prstGeom prst="ellipse">
            <a:avLst/>
          </a:prstGeom>
          <a:solidFill>
            <a:srgbClr val="2E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4</a:t>
            </a:r>
          </a:p>
        </p:txBody>
      </p:sp>
      <p:sp>
        <p:nvSpPr>
          <p:cNvPr id="10" name="Oval 9"/>
          <p:cNvSpPr/>
          <p:nvPr/>
        </p:nvSpPr>
        <p:spPr>
          <a:xfrm>
            <a:off x="9259214" y="2382697"/>
            <a:ext cx="256032" cy="256032"/>
          </a:xfrm>
          <a:prstGeom prst="ellipse">
            <a:avLst/>
          </a:prstGeom>
          <a:solidFill>
            <a:srgbClr val="2E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5</a:t>
            </a:r>
          </a:p>
        </p:txBody>
      </p:sp>
      <p:sp>
        <p:nvSpPr>
          <p:cNvPr id="11" name="Oval 10"/>
          <p:cNvSpPr/>
          <p:nvPr/>
        </p:nvSpPr>
        <p:spPr>
          <a:xfrm>
            <a:off x="5332780" y="2172842"/>
            <a:ext cx="256032" cy="256032"/>
          </a:xfrm>
          <a:prstGeom prst="ellipse">
            <a:avLst/>
          </a:prstGeom>
          <a:solidFill>
            <a:srgbClr val="B35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6</a:t>
            </a:r>
          </a:p>
        </p:txBody>
      </p:sp>
      <p:sp>
        <p:nvSpPr>
          <p:cNvPr id="12" name="Oval 11"/>
          <p:cNvSpPr/>
          <p:nvPr/>
        </p:nvSpPr>
        <p:spPr>
          <a:xfrm>
            <a:off x="6779361" y="1964931"/>
            <a:ext cx="256032" cy="256032"/>
          </a:xfrm>
          <a:prstGeom prst="ellipse">
            <a:avLst/>
          </a:prstGeom>
          <a:solidFill>
            <a:srgbClr val="B35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7</a:t>
            </a:r>
          </a:p>
        </p:txBody>
      </p:sp>
      <p:sp>
        <p:nvSpPr>
          <p:cNvPr id="13" name="Oval 12"/>
          <p:cNvSpPr/>
          <p:nvPr/>
        </p:nvSpPr>
        <p:spPr>
          <a:xfrm>
            <a:off x="7295997" y="1951329"/>
            <a:ext cx="256032" cy="256032"/>
          </a:xfrm>
          <a:prstGeom prst="ellipse">
            <a:avLst/>
          </a:prstGeom>
          <a:solidFill>
            <a:srgbClr val="B35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8</a:t>
            </a:r>
          </a:p>
        </p:txBody>
      </p:sp>
      <p:sp>
        <p:nvSpPr>
          <p:cNvPr id="14" name="Oval 13"/>
          <p:cNvSpPr/>
          <p:nvPr/>
        </p:nvSpPr>
        <p:spPr>
          <a:xfrm>
            <a:off x="9879177" y="1813369"/>
            <a:ext cx="256032" cy="256032"/>
          </a:xfrm>
          <a:prstGeom prst="ellipse">
            <a:avLst/>
          </a:prstGeom>
          <a:solidFill>
            <a:srgbClr val="1C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>
                <a:solidFill>
                  <a:srgbClr val="FFFFFF"/>
                </a:solidFill>
                <a:latin typeface="Verdana"/>
              </a:defRPr>
            </a:pPr>
            <a:r>
              <a:t>9</a:t>
            </a:r>
          </a:p>
        </p:txBody>
      </p:sp>
      <p:sp>
        <p:nvSpPr>
          <p:cNvPr id="15" name="Oval 14"/>
          <p:cNvSpPr/>
          <p:nvPr/>
        </p:nvSpPr>
        <p:spPr>
          <a:xfrm>
            <a:off x="10021824" y="2615869"/>
            <a:ext cx="384048" cy="256032"/>
          </a:xfrm>
          <a:prstGeom prst="ellipse">
            <a:avLst/>
          </a:prstGeom>
          <a:solidFill>
            <a:srgbClr val="2E6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800">
                <a:solidFill>
                  <a:srgbClr val="FFFFFF"/>
                </a:solidFill>
                <a:latin typeface="Verdana"/>
              </a:defRPr>
            </a:pPr>
            <a: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4293108"/>
            <a:ext cx="6400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latin typeface="Verdana"/>
              </a:defRPr>
            </a:pPr>
            <a:r>
              <a:t>12%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" y="3515868"/>
            <a:ext cx="6400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latin typeface="Verdana"/>
              </a:defRPr>
            </a:pPr>
            <a:r>
              <a:t>16%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2738627"/>
            <a:ext cx="6400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latin typeface="Verdana"/>
              </a:defRPr>
            </a:pPr>
            <a: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" y="1961387"/>
            <a:ext cx="6400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latin typeface="Verdana"/>
              </a:defRPr>
            </a:pPr>
            <a:r>
              <a:t>24%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64608"/>
            <a:ext cx="10332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latin typeface="Verdana"/>
              </a:defRPr>
            </a:pPr>
            <a:r>
              <a:t>2016  →  2026 · dot number color = track (green measured, orange simulated, dark this work)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2E6E5E"/>
                </a:solidFill>
                <a:latin typeface="Verdana"/>
              </a:rPr>
              <a:t>1. </a:t>
            </a:r>
            <a:r>
              <a:rPr sz="1400">
                <a:latin typeface="Verdana"/>
              </a:rPr>
              <a:t>10.8% QD 2016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E6E5E"/>
                </a:solidFill>
                <a:latin typeface="Verdana"/>
              </a:rPr>
              <a:t>2. </a:t>
            </a:r>
            <a:r>
              <a:rPr sz="1400">
                <a:latin typeface="Verdana"/>
              </a:rPr>
              <a:t>17.9% Hossain 22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E6E5E"/>
                </a:solidFill>
                <a:latin typeface="Verdana"/>
              </a:rPr>
              <a:t>3. </a:t>
            </a:r>
            <a:r>
              <a:rPr sz="1400">
                <a:latin typeface="Verdana"/>
              </a:rPr>
              <a:t>19.06% Hossain 23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E6E5E"/>
                </a:solidFill>
                <a:latin typeface="Verdana"/>
              </a:rPr>
              <a:t>4. </a:t>
            </a:r>
            <a:r>
              <a:rPr sz="1400">
                <a:latin typeface="Verdana"/>
              </a:rPr>
              <a:t>21.43% inverted cert.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E6E5E"/>
                </a:solidFill>
                <a:latin typeface="Verdana"/>
              </a:rPr>
              <a:t>5. </a:t>
            </a:r>
            <a:r>
              <a:rPr sz="1400">
                <a:latin typeface="Verdana"/>
              </a:rPr>
              <a:t>22.02% cert.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138928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>
                <a:solidFill>
                  <a:srgbClr val="B3541E"/>
                </a:solidFill>
                <a:latin typeface="Verdana"/>
              </a:rPr>
              <a:t>6. </a:t>
            </a:r>
            <a:r>
              <a:rPr sz="1400">
                <a:latin typeface="Verdana"/>
              </a:rPr>
              <a:t>23.1% ZnO/Spiro sim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B3541E"/>
                </a:solidFill>
                <a:latin typeface="Verdana"/>
              </a:rPr>
              <a:t>7. </a:t>
            </a:r>
            <a:r>
              <a:rPr sz="1400">
                <a:latin typeface="Verdana"/>
              </a:rPr>
              <a:t>24.17% Nazli sim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B3541E"/>
                </a:solidFill>
                <a:latin typeface="Verdana"/>
              </a:rPr>
              <a:t>8. </a:t>
            </a:r>
            <a:r>
              <a:rPr sz="1400">
                <a:latin typeface="Verdana"/>
              </a:rPr>
              <a:t>24.24% Oyedele sim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1C1A16"/>
                </a:solidFill>
                <a:latin typeface="Verdana"/>
              </a:rPr>
              <a:t>9. </a:t>
            </a:r>
            <a:r>
              <a:rPr sz="1400">
                <a:latin typeface="Verdana"/>
              </a:rPr>
              <a:t>24.95% bound (us)</a:t>
            </a:r>
          </a:p>
          <a:p>
            <a:pPr>
              <a:spcAft>
                <a:spcPts val="200"/>
              </a:spcAft>
            </a:pPr>
            <a:r>
              <a:rPr sz="1400">
                <a:solidFill>
                  <a:srgbClr val="2E6E5E"/>
                </a:solidFill>
                <a:latin typeface="Verdana"/>
              </a:rPr>
              <a:t>10. </a:t>
            </a:r>
            <a:r>
              <a:rPr sz="1400">
                <a:latin typeface="Verdana"/>
              </a:rPr>
              <a:t>20.82% defensible (us)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RESULT · THE UPPER BOUND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The best guardrailed point: 24.95%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9 / 20</a:t>
            </a:r>
          </a:p>
        </p:txBody>
      </p:sp>
      <p:pic>
        <p:nvPicPr>
          <p:cNvPr id="5" name="Picture 4" descr="fig_JVbo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6583680" cy="40925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237744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Voc 1.321 V · Jsc 21.20 · FF 89.11%</a:t>
            </a:r>
          </a:p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2.2 µm · Nt 1e12 · NA ceiling · Eg 1.65 · χ (3.9, 3.7)</a:t>
            </a:r>
          </a:p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Corner of the box — a bound, not a forecast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RESULT · WHY AFFINITIES MOVE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Affinity works through activation energy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10 / 20</a:t>
            </a:r>
          </a:p>
        </p:txBody>
      </p:sp>
      <p:pic>
        <p:nvPicPr>
          <p:cNvPr id="5" name="Picture 4" descr="affin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5486400" cy="3962400"/>
          </a:xfrm>
          <a:prstGeom prst="rect">
            <a:avLst/>
          </a:prstGeom>
        </p:spPr>
      </p:pic>
      <p:pic>
        <p:nvPicPr>
          <p:cNvPr id="6" name="Picture 5" descr="gap_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377440"/>
            <a:ext cx="4937760" cy="32095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RESULT · INTERFACES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Interfaces cost four points across the dose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11 / 20</a:t>
            </a:r>
          </a:p>
        </p:txBody>
      </p:sp>
      <p:pic>
        <p:nvPicPr>
          <p:cNvPr id="5" name="Picture 4" descr="fig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6583680" cy="38116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237744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25.11% at 1e8 → 23.84% at the 1e10 guardrail → 21.20% at 1e12</a:t>
            </a:r>
          </a:p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Published 24.17 / 24.24 NOT placed here — different stacks, incomplete tables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RESULT · THE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A radiative ceiling rules out the no-interface 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Detailed-balance Voc from our own absorption: 1.371 V at 1.65 eV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Champion clears it by 0.05 V — every no-interface cell within 0.011 V of it or above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With Krad = 0 nothing pins the splitting: the band has no margin anywhere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RESULT · THE DEFENSIBLE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Routine defects give 20.82%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13 / 20</a:t>
            </a:r>
          </a:p>
        </p:txBody>
      </p:sp>
      <p:pic>
        <p:nvPicPr>
          <p:cNvPr id="5" name="Picture 4" descr="rs_de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5120640" cy="3328416"/>
          </a:xfrm>
          <a:prstGeom prst="rect">
            <a:avLst/>
          </a:prstGeom>
        </p:spPr>
      </p:pic>
      <p:pic>
        <p:nvPicPr>
          <p:cNvPr id="6" name="Picture 5" descr="thickness_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377440"/>
            <a:ext cx="512064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RESULT ·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Interfaces lead at the floor, bulk leads at routine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14 / 20</a:t>
            </a:r>
          </a:p>
        </p:txBody>
      </p:sp>
      <p:pic>
        <p:nvPicPr>
          <p:cNvPr id="5" name="Picture 4" descr="fig_mor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5486400" cy="2743200"/>
          </a:xfrm>
          <a:prstGeom prst="rect">
            <a:avLst/>
          </a:prstGeom>
        </p:spPr>
      </p:pic>
      <p:pic>
        <p:nvPicPr>
          <p:cNvPr id="6" name="Picture 5" descr="optimiz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377440"/>
            <a:ext cx="4937760" cy="32095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RESULT · AGAINST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The excess is fill factor, not voltage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15 / 20</a:t>
            </a:r>
          </a:p>
        </p:txBody>
      </p:sp>
      <p:pic>
        <p:nvPicPr>
          <p:cNvPr id="5" name="Picture 4" descr="loss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6583680" cy="3803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237744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Our Voc is ordinary — records reach 1.27–1.29 V</a:t>
            </a:r>
          </a:p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~6-pt FF gap unattributed: no TL recombination, no reflector, numerics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METHOD · PORTABLE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Report lifetimes and velocities, not just densities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16 /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377440"/>
          <a:ext cx="106984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137160"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Density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latin typeface="Georgia"/>
                        </a:defRPr>
                      </a:pPr>
                      <a:r>
                        <a:rPr>
                          <a:solidFill>
                            <a:srgbClr val="FAF7F1"/>
                          </a:solidFill>
                        </a:rPr>
                        <a:t>τ / S</a:t>
                      </a:r>
                    </a:p>
                  </a:txBody>
                  <a:tcPr>
                    <a:solidFill>
                      <a:srgbClr val="1C1A16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Nt 1e12 (floor)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τ = 100 µs</a:t>
                      </a:r>
                    </a:p>
                  </a:txBody>
                  <a:tcPr/>
                </a:tc>
              </a:tr>
              <a:tr h="137160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Nt 1e15 (routine)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τ = 0.1 µs</a:t>
                      </a:r>
                    </a:p>
                  </a:txBody>
                  <a:tcPr/>
                </a:tc>
              </a:tr>
              <a:tr h="137160"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Nif 1e10 (guardrail)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>
                          <a:latin typeface="Georgia"/>
                        </a:defRPr>
                      </a:pPr>
                      <a:r>
                        <a:t>S = 100 cm/s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93776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latin typeface="Georgia"/>
              </a:defRPr>
            </a:pPr>
            <a:r>
              <a:t>▪  N and σ enter only as their product — τ and S are cross-study currency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HONESTY · SCRIPTING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Two scripting traps that fabricate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Units trap: SI-valued set inputs overdose 10⁶× — ghost cells up to 27%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σ trap: the capture cross-section set-key neutralises interfaces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Rule: definition files for structure, set-then-get verification always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CONTRIBUTION · 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A checklist for comparable SCAPS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Interface status + Nif + σ (or S) · bulk Nt + σ (or τ)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Unit-system declaration · Rs basis, computed not assumed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Both contact work functions · surveyed vs adopted affinities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Model-derived radiative screen · archived receipts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What this work cannot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No optimiser brackets the champion — best-of-evaluated, not proven optimal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No phase stability, ion migration, or damp-heat — SCAPS steady state only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No experimental calibration — the loss budget compares, it does not fit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F6A5E"/>
                </a:solidFill>
                <a:latin typeface="Verdana"/>
              </a:defRPr>
            </a:pPr>
            <a: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solidFill>
                  <a:srgbClr val="1C1A16"/>
                </a:solidFill>
                <a:latin typeface="Georgia"/>
              </a:defRPr>
            </a:pPr>
            <a:r>
              <a:t>Claim 20.8. Cite 24.9 as a bound.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F6A5E"/>
                </a:solidFill>
                <a:latin typeface="Verdana"/>
              </a:defRPr>
            </a:pPr>
            <a:r>
              <a:t>Guardrails for the Record Race    20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Every number archived · every assumption priced · scripts regenerate every receipt</a:t>
            </a:r>
          </a:p>
          <a:p>
            <a:pPr>
              <a:spcAft>
                <a:spcPts val="1400"/>
              </a:spcAft>
              <a:defRPr sz="2400">
                <a:latin typeface="Georgia"/>
              </a:defRPr>
            </a:pPr>
            <a:r>
              <a:t>▪  github.com/touhidsiddiqueeraj-bit/cspbi3-cbts-guardrailed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